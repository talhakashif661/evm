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169768" y="502920"/>
            <a:ext cx="5852160" cy="5852160"/>
          </a:xfrm>
          <a:prstGeom prst="ellipse">
            <a:avLst/>
          </a:prstGeom>
          <a:solidFill>
            <a:srgbClr val="D4AF37">
              <a:alpha val="6000"/>
            </a:srgbClr>
          </a:solidFill>
          <a:ln w="9525">
            <a:solidFill>
              <a:srgbClr val="D4AF3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2000000">
            <a:off x="1889608" y="2423160"/>
            <a:ext cx="1188720" cy="1188720"/>
          </a:xfrm>
          <a:prstGeom prst="teardrop">
            <a:avLst/>
          </a:prstGeom>
          <a:solidFill>
            <a:srgbClr val="A3B18A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200000">
            <a:off x="9113368" y="3246120"/>
            <a:ext cx="1188720" cy="1188720"/>
          </a:xfrm>
          <a:prstGeom prst="teardrop">
            <a:avLst/>
          </a:prstGeom>
          <a:solidFill>
            <a:srgbClr val="A3B18A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737360" y="1965960"/>
            <a:ext cx="8716975" cy="3017520"/>
          </a:xfrm>
          <a:prstGeom prst="roundRect">
            <a:avLst>
              <a:gd name="adj" fmla="val 6061"/>
            </a:avLst>
          </a:prstGeom>
          <a:solidFill>
            <a:srgbClr val="F5F0E8">
              <a:alpha val="55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78508" y="2007108"/>
            <a:ext cx="8634679" cy="2935224"/>
          </a:xfrm>
          <a:prstGeom prst="roundRect">
            <a:avLst>
              <a:gd name="adj" fmla="val 5607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10512" y="2039112"/>
            <a:ext cx="8570671" cy="685800"/>
          </a:xfrm>
          <a:prstGeom prst="roundRect">
            <a:avLst>
              <a:gd name="adj" fmla="val 173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2331720"/>
            <a:ext cx="87169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4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ChargeEV</a:t>
            </a:r>
            <a:endParaRPr lang="en-US" sz="5400" dirty="0"/>
          </a:p>
        </p:txBody>
      </p:sp>
      <p:sp>
        <p:nvSpPr>
          <p:cNvPr id="15" name="Shape 13"/>
          <p:cNvSpPr/>
          <p:nvPr/>
        </p:nvSpPr>
        <p:spPr>
          <a:xfrm>
            <a:off x="5181448" y="3520440"/>
            <a:ext cx="182880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3703320"/>
            <a:ext cx="78025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AI-Powered EV Charging Station Management Platform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94560" y="4434840"/>
            <a:ext cx="78025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Presented by Your Name Here  |  Your Institute Name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/ 17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6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Team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Presented By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2533574" cy="3108960"/>
          </a:xfrm>
          <a:prstGeom prst="roundRect">
            <a:avLst>
              <a:gd name="adj" fmla="val 5053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9788" y="2235708"/>
            <a:ext cx="2451278" cy="3026664"/>
          </a:xfrm>
          <a:prstGeom prst="roundRect">
            <a:avLst>
              <a:gd name="adj" fmla="val 4476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267712"/>
            <a:ext cx="2387270" cy="685800"/>
          </a:xfrm>
          <a:prstGeom prst="roundRect">
            <a:avLst>
              <a:gd name="adj" fmla="val 121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12507" y="2560320"/>
            <a:ext cx="1005840" cy="1005840"/>
          </a:xfrm>
          <a:prstGeom prst="ellipse">
            <a:avLst/>
          </a:prstGeom>
          <a:solidFill>
            <a:srgbClr val="A3B18A">
              <a:alpha val="45000"/>
            </a:srgbClr>
          </a:solidFill>
          <a:ln w="15875">
            <a:solidFill>
              <a:srgbClr val="8B5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2507" y="2560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Y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5800" y="379476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Name Here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389120"/>
            <a:ext cx="22592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Full-Stack Development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02254" y="2194560"/>
            <a:ext cx="2533574" cy="3108960"/>
          </a:xfrm>
          <a:prstGeom prst="roundRect">
            <a:avLst>
              <a:gd name="adj" fmla="val 5053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43402" y="2235708"/>
            <a:ext cx="2451278" cy="3026664"/>
          </a:xfrm>
          <a:prstGeom prst="roundRect">
            <a:avLst>
              <a:gd name="adj" fmla="val 4476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5406" y="2267712"/>
            <a:ext cx="2387270" cy="685800"/>
          </a:xfrm>
          <a:prstGeom prst="roundRect">
            <a:avLst>
              <a:gd name="adj" fmla="val 121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66121" y="2560320"/>
            <a:ext cx="1005840" cy="1005840"/>
          </a:xfrm>
          <a:prstGeom prst="ellipse">
            <a:avLst/>
          </a:prstGeom>
          <a:solidFill>
            <a:srgbClr val="A3B18A">
              <a:alpha val="45000"/>
            </a:srgbClr>
          </a:solidFill>
          <a:ln w="15875">
            <a:solidFill>
              <a:srgbClr val="8B5A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6121" y="2560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539414" y="379476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Member 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39414" y="4389120"/>
            <a:ext cx="22592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&amp; Database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55868" y="2194560"/>
            <a:ext cx="2533574" cy="3108960"/>
          </a:xfrm>
          <a:prstGeom prst="roundRect">
            <a:avLst>
              <a:gd name="adj" fmla="val 5053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97016" y="2235708"/>
            <a:ext cx="2451278" cy="3026664"/>
          </a:xfrm>
          <a:prstGeom prst="roundRect">
            <a:avLst>
              <a:gd name="adj" fmla="val 4476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29020" y="2267712"/>
            <a:ext cx="2387270" cy="685800"/>
          </a:xfrm>
          <a:prstGeom prst="roundRect">
            <a:avLst>
              <a:gd name="adj" fmla="val 121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019735" y="2560320"/>
            <a:ext cx="1005840" cy="1005840"/>
          </a:xfrm>
          <a:prstGeom prst="ellipse">
            <a:avLst/>
          </a:prstGeom>
          <a:solidFill>
            <a:srgbClr val="A3B18A">
              <a:alpha val="45000"/>
            </a:srgbClr>
          </a:solidFill>
          <a:ln w="15875">
            <a:solidFill>
              <a:srgbClr val="8B5A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19735" y="2560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393028" y="379476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Member 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93028" y="4389120"/>
            <a:ext cx="22592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UI/UX &amp; Frontend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109481" y="2194560"/>
            <a:ext cx="2533574" cy="3108960"/>
          </a:xfrm>
          <a:prstGeom prst="roundRect">
            <a:avLst>
              <a:gd name="adj" fmla="val 5053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50629" y="2235708"/>
            <a:ext cx="2451278" cy="3026664"/>
          </a:xfrm>
          <a:prstGeom prst="roundRect">
            <a:avLst>
              <a:gd name="adj" fmla="val 4476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82633" y="2267712"/>
            <a:ext cx="2387270" cy="685800"/>
          </a:xfrm>
          <a:prstGeom prst="roundRect">
            <a:avLst>
              <a:gd name="adj" fmla="val 121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873348" y="2560320"/>
            <a:ext cx="1005840" cy="1005840"/>
          </a:xfrm>
          <a:prstGeom prst="ellipse">
            <a:avLst/>
          </a:prstGeom>
          <a:solidFill>
            <a:srgbClr val="A3B18A">
              <a:alpha val="45000"/>
            </a:srgbClr>
          </a:solidFill>
          <a:ln w="15875">
            <a:solidFill>
              <a:srgbClr val="8B5A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3348" y="2560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9246641" y="3794760"/>
            <a:ext cx="22592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Member 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246641" y="4389120"/>
            <a:ext cx="22592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Testing &amp; Deployment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Supervisor: Supervisor Name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6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Agenda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636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F37">
              <a:alpha val="45000"/>
            </a:srgbClr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508760"/>
            <a:ext cx="486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1305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F37">
              <a:alpha val="45000"/>
            </a:srgbClr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075688"/>
            <a:ext cx="486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F37">
              <a:alpha val="45000"/>
            </a:srgbClr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642616"/>
            <a:ext cx="486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Uses It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2644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F37">
              <a:alpha val="45000"/>
            </a:srgbClr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209544"/>
            <a:ext cx="486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Technology Stack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F37">
              <a:alpha val="45000"/>
            </a:srgbClr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776472"/>
            <a:ext cx="486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43982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F37">
              <a:alpha val="45000"/>
            </a:srgbClr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398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4343400"/>
            <a:ext cx="486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9651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F37">
              <a:alpha val="45000"/>
            </a:srgbClr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965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4910328"/>
            <a:ext cx="486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01 — EV &amp; Booking Management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78728" y="15636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F37">
              <a:alpha val="45000"/>
            </a:srgbClr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8728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81648" y="1508760"/>
            <a:ext cx="486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02 — Real-Time Auction System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78728" y="21305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F37">
              <a:alpha val="45000"/>
            </a:srgbClr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8728" y="2130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81648" y="2075688"/>
            <a:ext cx="486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03 — AI-Powered Recommendations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78728" y="26974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F37">
              <a:alpha val="45000"/>
            </a:srgbClr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8728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81648" y="2642616"/>
            <a:ext cx="486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04 — Admin Dashboard &amp; Security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78728" y="32644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F37">
              <a:alpha val="45000"/>
            </a:srgbClr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8728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81648" y="3209544"/>
            <a:ext cx="486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 &amp; Testing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78728" y="38313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F37">
              <a:alpha val="45000"/>
            </a:srgbClr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8728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81648" y="3776472"/>
            <a:ext cx="486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Unique Differentiators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78728" y="43982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4AF37">
              <a:alpha val="45000"/>
            </a:srgbClr>
          </a:solidFill>
          <a:ln w="9525">
            <a:solidFill>
              <a:srgbClr val="8B5A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78728" y="4398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781648" y="4343400"/>
            <a:ext cx="48614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Scope &amp; Business Model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4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Problem Statement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0240"/>
            <a:ext cx="11094415" cy="1828800"/>
          </a:xfrm>
          <a:prstGeom prst="roundRect">
            <a:avLst>
              <a:gd name="adj" fmla="val 7000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9788" y="1961388"/>
            <a:ext cx="11012119" cy="1746504"/>
          </a:xfrm>
          <a:prstGeom prst="roundRect">
            <a:avLst>
              <a:gd name="adj" fmla="val 6283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1993392"/>
            <a:ext cx="10948111" cy="585216"/>
          </a:xfrm>
          <a:prstGeom prst="roundRect">
            <a:avLst>
              <a:gd name="adj" fmla="val 14219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 drivers struggle to find available charging slots in real time, while high-demand slots create unresolved conflicts between drivers — and station owners lack a unified way to manage slots, pricing, and revenue.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3484778" cy="1828800"/>
          </a:xfrm>
          <a:prstGeom prst="roundRect">
            <a:avLst>
              <a:gd name="adj" fmla="val 7000"/>
            </a:avLst>
          </a:prstGeom>
          <a:solidFill>
            <a:srgbClr val="F5F0E8">
              <a:alpha val="65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9788" y="4155948"/>
            <a:ext cx="3402482" cy="1746504"/>
          </a:xfrm>
          <a:prstGeom prst="roundRect">
            <a:avLst>
              <a:gd name="adj" fmla="val 6283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187952"/>
            <a:ext cx="3338474" cy="585216"/>
          </a:xfrm>
          <a:prstGeom prst="roundRect">
            <a:avLst>
              <a:gd name="adj" fmla="val 14219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51960"/>
            <a:ext cx="348477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4AF3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30%+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" y="4983480"/>
            <a:ext cx="31190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charging time wasted searching for available slots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53458" y="4114800"/>
            <a:ext cx="3484778" cy="1828800"/>
          </a:xfrm>
          <a:prstGeom prst="roundRect">
            <a:avLst>
              <a:gd name="adj" fmla="val 7000"/>
            </a:avLst>
          </a:prstGeom>
          <a:solidFill>
            <a:srgbClr val="F5F0E8">
              <a:alpha val="65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94606" y="4155948"/>
            <a:ext cx="3402482" cy="1746504"/>
          </a:xfrm>
          <a:prstGeom prst="roundRect">
            <a:avLst>
              <a:gd name="adj" fmla="val 6283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6610" y="4187952"/>
            <a:ext cx="3338474" cy="585216"/>
          </a:xfrm>
          <a:prstGeom prst="roundRect">
            <a:avLst>
              <a:gd name="adj" fmla="val 14219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353458" y="4251960"/>
            <a:ext cx="348477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4AF3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36338" y="4983480"/>
            <a:ext cx="31190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fair mechanism for resolving contested high-demand slots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58277" y="4114800"/>
            <a:ext cx="3484778" cy="1828800"/>
          </a:xfrm>
          <a:prstGeom prst="roundRect">
            <a:avLst>
              <a:gd name="adj" fmla="val 7000"/>
            </a:avLst>
          </a:prstGeom>
          <a:solidFill>
            <a:srgbClr val="F5F0E8">
              <a:alpha val="65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99425" y="4155948"/>
            <a:ext cx="3402482" cy="1746504"/>
          </a:xfrm>
          <a:prstGeom prst="roundRect">
            <a:avLst>
              <a:gd name="adj" fmla="val 6283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31429" y="4187952"/>
            <a:ext cx="3338474" cy="585216"/>
          </a:xfrm>
          <a:prstGeom prst="roundRect">
            <a:avLst>
              <a:gd name="adj" fmla="val 14219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158277" y="4251960"/>
            <a:ext cx="348477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4AF3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Manual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341157" y="4983480"/>
            <a:ext cx="31190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revenue &amp; slot tracking for station owners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4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Our Solution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0240"/>
            <a:ext cx="11094415" cy="1737360"/>
          </a:xfrm>
          <a:prstGeom prst="roundRect">
            <a:avLst>
              <a:gd name="adj" fmla="val 7368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9788" y="1961388"/>
            <a:ext cx="11012119" cy="1655064"/>
          </a:xfrm>
          <a:prstGeom prst="roundRect">
            <a:avLst>
              <a:gd name="adj" fmla="val 6630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1993392"/>
            <a:ext cx="10948111" cy="555955"/>
          </a:xfrm>
          <a:prstGeom prst="roundRect">
            <a:avLst>
              <a:gd name="adj" fmla="val 1496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48840"/>
            <a:ext cx="103628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 connects drivers, station owners, and admins on one platform: live slot booking, a fair bid-based auction for contested slots, and AI-driven station recommendations ranked by distance, price, availability, and battery urgency.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484778" cy="2011680"/>
          </a:xfrm>
          <a:prstGeom prst="roundRect">
            <a:avLst>
              <a:gd name="adj" fmla="val 6364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9788" y="3973068"/>
            <a:ext cx="3402482" cy="1929384"/>
          </a:xfrm>
          <a:prstGeom prst="roundRect">
            <a:avLst>
              <a:gd name="adj" fmla="val 5687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005072"/>
            <a:ext cx="3338474" cy="643738"/>
          </a:xfrm>
          <a:prstGeom prst="roundRect">
            <a:avLst>
              <a:gd name="adj" fmla="val 12926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14800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4709160"/>
            <a:ext cx="302757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Find &amp; reserve charging slots in real time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53458" y="3931920"/>
            <a:ext cx="3484778" cy="2011680"/>
          </a:xfrm>
          <a:prstGeom prst="roundRect">
            <a:avLst>
              <a:gd name="adj" fmla="val 6364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94606" y="3973068"/>
            <a:ext cx="3402482" cy="1929384"/>
          </a:xfrm>
          <a:prstGeom prst="roundRect">
            <a:avLst>
              <a:gd name="adj" fmla="val 5687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6610" y="4005072"/>
            <a:ext cx="3338474" cy="643738"/>
          </a:xfrm>
          <a:prstGeom prst="roundRect">
            <a:avLst>
              <a:gd name="adj" fmla="val 12926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353458" y="4114800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82058" y="4709160"/>
            <a:ext cx="302757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Fair live auctions for contested high-demand slots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58277" y="3931920"/>
            <a:ext cx="3484778" cy="2011680"/>
          </a:xfrm>
          <a:prstGeom prst="roundRect">
            <a:avLst>
              <a:gd name="adj" fmla="val 6364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99425" y="3973068"/>
            <a:ext cx="3402482" cy="1929384"/>
          </a:xfrm>
          <a:prstGeom prst="roundRect">
            <a:avLst>
              <a:gd name="adj" fmla="val 5687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31429" y="4005072"/>
            <a:ext cx="3338474" cy="643738"/>
          </a:xfrm>
          <a:prstGeom prst="roundRect">
            <a:avLst>
              <a:gd name="adj" fmla="val 12926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158277" y="4114800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Recommend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86877" y="4709160"/>
            <a:ext cx="302757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AI-ranked stations by distance, price &amp; urgency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4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Who Uses It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 Users &amp; Roles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3484778" cy="3749040"/>
          </a:xfrm>
          <a:prstGeom prst="roundRect">
            <a:avLst>
              <a:gd name="adj" fmla="val 3674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9788" y="2144268"/>
            <a:ext cx="3402482" cy="3666744"/>
          </a:xfrm>
          <a:prstGeom prst="roundRect">
            <a:avLst>
              <a:gd name="adj" fmla="val 3225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176272"/>
            <a:ext cx="3338474" cy="685800"/>
          </a:xfrm>
          <a:prstGeom prst="roundRect">
            <a:avLst>
              <a:gd name="adj" fmla="val 121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925269" y="23317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A3B18A">
              <a:alpha val="45000"/>
            </a:srgbClr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46120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 Driver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293613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Registers EVs, discovers stations on a live map, books slots, bids in auctions, pays via Stripe, reviews stations.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53458" y="2103120"/>
            <a:ext cx="3484778" cy="3749040"/>
          </a:xfrm>
          <a:prstGeom prst="roundRect">
            <a:avLst>
              <a:gd name="adj" fmla="val 3674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94606" y="2144268"/>
            <a:ext cx="3402482" cy="3666744"/>
          </a:xfrm>
          <a:prstGeom prst="roundRect">
            <a:avLst>
              <a:gd name="adj" fmla="val 3225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26610" y="2176272"/>
            <a:ext cx="3338474" cy="685800"/>
          </a:xfrm>
          <a:prstGeom prst="roundRect">
            <a:avLst>
              <a:gd name="adj" fmla="val 121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730088" y="23317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A3B18A">
              <a:alpha val="45000"/>
            </a:srgbClr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3458" y="3246120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Station Owner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27778" y="3840480"/>
            <a:ext cx="293613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Creates &amp; manages stations and slots (pending admin approval), tracks revenue reports, closes auctions.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58277" y="2103120"/>
            <a:ext cx="3484778" cy="3749040"/>
          </a:xfrm>
          <a:prstGeom prst="roundRect">
            <a:avLst>
              <a:gd name="adj" fmla="val 3674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99425" y="2144268"/>
            <a:ext cx="3402482" cy="3666744"/>
          </a:xfrm>
          <a:prstGeom prst="roundRect">
            <a:avLst>
              <a:gd name="adj" fmla="val 3225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31429" y="2176272"/>
            <a:ext cx="3338474" cy="685800"/>
          </a:xfrm>
          <a:prstGeom prst="roundRect">
            <a:avLst>
              <a:gd name="adj" fmla="val 121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534906" y="23317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A3B18A">
              <a:alpha val="45000"/>
            </a:srgbClr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58277" y="3246120"/>
            <a:ext cx="34847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432597" y="3840480"/>
            <a:ext cx="293613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Approves/rejects stations, manages users, resolves complaints, monitors the full audit log &amp; dashboard.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Core Technology Stack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08760"/>
            <a:ext cx="5387188" cy="1965960"/>
          </a:xfrm>
          <a:prstGeom prst="roundRect">
            <a:avLst>
              <a:gd name="adj" fmla="val 6512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9788" y="1549908"/>
            <a:ext cx="5304892" cy="1883664"/>
          </a:xfrm>
          <a:prstGeom prst="roundRect">
            <a:avLst>
              <a:gd name="adj" fmla="val 5825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1581912"/>
            <a:ext cx="5240884" cy="629107"/>
          </a:xfrm>
          <a:prstGeom prst="roundRect">
            <a:avLst>
              <a:gd name="adj" fmla="val 1322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673352"/>
            <a:ext cx="492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2039112"/>
            <a:ext cx="1005840" cy="0"/>
          </a:xfrm>
          <a:prstGeom prst="line">
            <a:avLst/>
          </a:prstGeom>
          <a:noFill/>
          <a:ln w="28575">
            <a:solidFill>
              <a:srgbClr val="A3B1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167128"/>
            <a:ext cx="49299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18   ·   Vite   ·   Redux Toolkit   ·   Bootstrap 5   ·   Socket.IO Client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55868" y="1508760"/>
            <a:ext cx="5387188" cy="1965960"/>
          </a:xfrm>
          <a:prstGeom prst="roundRect">
            <a:avLst>
              <a:gd name="adj" fmla="val 6512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7016" y="1549908"/>
            <a:ext cx="5304892" cy="1883664"/>
          </a:xfrm>
          <a:prstGeom prst="roundRect">
            <a:avLst>
              <a:gd name="adj" fmla="val 5825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9020" y="1581912"/>
            <a:ext cx="5240884" cy="629107"/>
          </a:xfrm>
          <a:prstGeom prst="roundRect">
            <a:avLst>
              <a:gd name="adj" fmla="val 1322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84468" y="1673352"/>
            <a:ext cx="492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84468" y="2039112"/>
            <a:ext cx="1005840" cy="0"/>
          </a:xfrm>
          <a:prstGeom prst="line">
            <a:avLst/>
          </a:prstGeom>
          <a:noFill/>
          <a:ln w="28575">
            <a:solidFill>
              <a:srgbClr val="A3B1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4468" y="2167128"/>
            <a:ext cx="49299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  ·   Express.js   ·   Prisma ORM   ·   Socket.IO   ·   JWT + bcrypt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5387188" cy="1965960"/>
          </a:xfrm>
          <a:prstGeom prst="roundRect">
            <a:avLst>
              <a:gd name="adj" fmla="val 6512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9788" y="3835908"/>
            <a:ext cx="5304892" cy="1883664"/>
          </a:xfrm>
          <a:prstGeom prst="roundRect">
            <a:avLst>
              <a:gd name="adj" fmla="val 5825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3867912"/>
            <a:ext cx="5240884" cy="629107"/>
          </a:xfrm>
          <a:prstGeom prst="roundRect">
            <a:avLst>
              <a:gd name="adj" fmla="val 1322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959352"/>
            <a:ext cx="492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77240" y="4325112"/>
            <a:ext cx="1005840" cy="0"/>
          </a:xfrm>
          <a:prstGeom prst="line">
            <a:avLst/>
          </a:prstGeom>
          <a:noFill/>
          <a:ln w="28575">
            <a:solidFill>
              <a:srgbClr val="A3B1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453128"/>
            <a:ext cx="49299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MongoDB Atlas   ·   10 Prisma Models   ·   6 Enums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55868" y="3794760"/>
            <a:ext cx="5387188" cy="1965960"/>
          </a:xfrm>
          <a:prstGeom prst="roundRect">
            <a:avLst>
              <a:gd name="adj" fmla="val 6512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97016" y="3835908"/>
            <a:ext cx="5304892" cy="1883664"/>
          </a:xfrm>
          <a:prstGeom prst="roundRect">
            <a:avLst>
              <a:gd name="adj" fmla="val 5825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29020" y="3867912"/>
            <a:ext cx="5240884" cy="629107"/>
          </a:xfrm>
          <a:prstGeom prst="roundRect">
            <a:avLst>
              <a:gd name="adj" fmla="val 1322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84468" y="3959352"/>
            <a:ext cx="492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Tools &amp; Services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484468" y="4325112"/>
            <a:ext cx="1005840" cy="0"/>
          </a:xfrm>
          <a:prstGeom prst="line">
            <a:avLst/>
          </a:prstGeom>
          <a:noFill/>
          <a:ln w="28575">
            <a:solidFill>
              <a:srgbClr val="A3B1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84468" y="4453128"/>
            <a:ext cx="492998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Stripe Payments   ·   Nodemailer SMTP   ·   Jest + Supertest   ·   Vercel + Railway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03120"/>
            <a:ext cx="2286000" cy="1188720"/>
          </a:xfrm>
          <a:prstGeom prst="roundRect">
            <a:avLst>
              <a:gd name="adj" fmla="val 10769"/>
            </a:avLst>
          </a:prstGeom>
          <a:solidFill>
            <a:srgbClr val="F5F0E8">
              <a:alpha val="72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9788" y="2144268"/>
            <a:ext cx="2203704" cy="1106424"/>
          </a:xfrm>
          <a:prstGeom prst="roundRect">
            <a:avLst>
              <a:gd name="adj" fmla="val 9917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176272"/>
            <a:ext cx="2139696" cy="380390"/>
          </a:xfrm>
          <a:prstGeom prst="roundRect">
            <a:avLst>
              <a:gd name="adj" fmla="val 21875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Frontend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Vite + Redux Toolkit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(port 3000)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2697480"/>
            <a:ext cx="650138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84778" y="2103120"/>
            <a:ext cx="2286000" cy="1188720"/>
          </a:xfrm>
          <a:prstGeom prst="roundRect">
            <a:avLst>
              <a:gd name="adj" fmla="val 10769"/>
            </a:avLst>
          </a:prstGeom>
          <a:solidFill>
            <a:srgbClr val="F5F0E8">
              <a:alpha val="72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5926" y="2144268"/>
            <a:ext cx="2203704" cy="1106424"/>
          </a:xfrm>
          <a:prstGeom prst="roundRect">
            <a:avLst>
              <a:gd name="adj" fmla="val 9917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57930" y="2176272"/>
            <a:ext cx="2139696" cy="380390"/>
          </a:xfrm>
          <a:prstGeom prst="roundRect">
            <a:avLst>
              <a:gd name="adj" fmla="val 21875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84778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Express API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76218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+ Socket.IO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(port 5000)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70778" y="2697480"/>
            <a:ext cx="650138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20917" y="2103120"/>
            <a:ext cx="2286000" cy="1188720"/>
          </a:xfrm>
          <a:prstGeom prst="roundRect">
            <a:avLst>
              <a:gd name="adj" fmla="val 10769"/>
            </a:avLst>
          </a:prstGeom>
          <a:solidFill>
            <a:srgbClr val="F5F0E8">
              <a:alpha val="72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62065" y="2144268"/>
            <a:ext cx="2203704" cy="1106424"/>
          </a:xfrm>
          <a:prstGeom prst="roundRect">
            <a:avLst>
              <a:gd name="adj" fmla="val 9917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4069" y="2176272"/>
            <a:ext cx="2139696" cy="380390"/>
          </a:xfrm>
          <a:prstGeom prst="roundRect">
            <a:avLst>
              <a:gd name="adj" fmla="val 21875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20917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Prisma ORM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12357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Schema &amp; queries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06917" y="2697480"/>
            <a:ext cx="650138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357055" y="2103120"/>
            <a:ext cx="2286000" cy="1188720"/>
          </a:xfrm>
          <a:prstGeom prst="roundRect">
            <a:avLst>
              <a:gd name="adj" fmla="val 10769"/>
            </a:avLst>
          </a:prstGeom>
          <a:solidFill>
            <a:srgbClr val="F5F0E8">
              <a:alpha val="72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98203" y="2144268"/>
            <a:ext cx="2203704" cy="1106424"/>
          </a:xfrm>
          <a:prstGeom prst="roundRect">
            <a:avLst>
              <a:gd name="adj" fmla="val 9917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30207" y="2176272"/>
            <a:ext cx="2139696" cy="380390"/>
          </a:xfrm>
          <a:prstGeom prst="roundRect">
            <a:avLst>
              <a:gd name="adj" fmla="val 21875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357055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MongoDB Atlas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448495" y="2606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models, 6 enums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11094415" cy="914400"/>
          </a:xfrm>
          <a:prstGeom prst="roundRect">
            <a:avLst>
              <a:gd name="adj" fmla="val 14000"/>
            </a:avLst>
          </a:prstGeom>
          <a:solidFill>
            <a:srgbClr val="F5F0E8">
              <a:alpha val="65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89788" y="3835908"/>
            <a:ext cx="11012119" cy="832104"/>
          </a:xfrm>
          <a:prstGeom prst="roundRect">
            <a:avLst>
              <a:gd name="adj" fmla="val 13187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" y="3867912"/>
            <a:ext cx="10948111" cy="292608"/>
          </a:xfrm>
          <a:prstGeom prst="roundRect">
            <a:avLst>
              <a:gd name="adj" fmla="val 28438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3977640"/>
            <a:ext cx="104543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layer: Socket.IO pushes bid updates, auction results, and booking/payment status directly to connected clients — bypassing the request/response cycle above for live events.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502920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Express API  →  SMTP (Nodemailer)  →  User Emails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5532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Express API  →  AI Scoring Engine  →  Ranked Stations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Database Design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Prisma Models on MongoDB Atlas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2036003" cy="777240"/>
          </a:xfrm>
          <a:prstGeom prst="roundRect">
            <a:avLst>
              <a:gd name="adj" fmla="val 11765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9788" y="2098548"/>
            <a:ext cx="1953707" cy="694944"/>
          </a:xfrm>
          <a:prstGeom prst="roundRect">
            <a:avLst>
              <a:gd name="adj" fmla="val 10526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130552"/>
            <a:ext cx="1889699" cy="248717"/>
          </a:xfrm>
          <a:prstGeom prst="roundRect">
            <a:avLst>
              <a:gd name="adj" fmla="val 2389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57400"/>
            <a:ext cx="203600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813243" y="2057400"/>
            <a:ext cx="2036003" cy="777240"/>
          </a:xfrm>
          <a:prstGeom prst="roundRect">
            <a:avLst>
              <a:gd name="adj" fmla="val 11765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54391" y="2098548"/>
            <a:ext cx="1953707" cy="694944"/>
          </a:xfrm>
          <a:prstGeom prst="roundRect">
            <a:avLst>
              <a:gd name="adj" fmla="val 10526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6395" y="2130552"/>
            <a:ext cx="1889699" cy="248717"/>
          </a:xfrm>
          <a:prstGeom prst="roundRect">
            <a:avLst>
              <a:gd name="adj" fmla="val 2389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813243" y="2057400"/>
            <a:ext cx="203600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77846" y="2057400"/>
            <a:ext cx="2036003" cy="777240"/>
          </a:xfrm>
          <a:prstGeom prst="roundRect">
            <a:avLst>
              <a:gd name="adj" fmla="val 11765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18994" y="2098548"/>
            <a:ext cx="1953707" cy="694944"/>
          </a:xfrm>
          <a:prstGeom prst="roundRect">
            <a:avLst>
              <a:gd name="adj" fmla="val 10526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50998" y="2130552"/>
            <a:ext cx="1889699" cy="248717"/>
          </a:xfrm>
          <a:prstGeom prst="roundRect">
            <a:avLst>
              <a:gd name="adj" fmla="val 2389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077846" y="2057400"/>
            <a:ext cx="203600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ChargingStation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42449" y="2057400"/>
            <a:ext cx="2036003" cy="777240"/>
          </a:xfrm>
          <a:prstGeom prst="roundRect">
            <a:avLst>
              <a:gd name="adj" fmla="val 11765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83597" y="2098548"/>
            <a:ext cx="1953707" cy="694944"/>
          </a:xfrm>
          <a:prstGeom prst="roundRect">
            <a:avLst>
              <a:gd name="adj" fmla="val 10526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15601" y="2130552"/>
            <a:ext cx="1889699" cy="248717"/>
          </a:xfrm>
          <a:prstGeom prst="roundRect">
            <a:avLst>
              <a:gd name="adj" fmla="val 2389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342449" y="2057400"/>
            <a:ext cx="203600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Slot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07052" y="2057400"/>
            <a:ext cx="2036003" cy="777240"/>
          </a:xfrm>
          <a:prstGeom prst="roundRect">
            <a:avLst>
              <a:gd name="adj" fmla="val 11765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648200" y="2098548"/>
            <a:ext cx="1953707" cy="694944"/>
          </a:xfrm>
          <a:prstGeom prst="roundRect">
            <a:avLst>
              <a:gd name="adj" fmla="val 10526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80204" y="2130552"/>
            <a:ext cx="1889699" cy="248717"/>
          </a:xfrm>
          <a:prstGeom prst="roundRect">
            <a:avLst>
              <a:gd name="adj" fmla="val 2389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607052" y="2057400"/>
            <a:ext cx="203600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3063240"/>
            <a:ext cx="2036003" cy="777240"/>
          </a:xfrm>
          <a:prstGeom prst="roundRect">
            <a:avLst>
              <a:gd name="adj" fmla="val 11765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9788" y="3104388"/>
            <a:ext cx="1953707" cy="694944"/>
          </a:xfrm>
          <a:prstGeom prst="roundRect">
            <a:avLst>
              <a:gd name="adj" fmla="val 10526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" y="3136392"/>
            <a:ext cx="1889699" cy="248717"/>
          </a:xfrm>
          <a:prstGeom prst="roundRect">
            <a:avLst>
              <a:gd name="adj" fmla="val 2389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063240"/>
            <a:ext cx="203600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813243" y="3063240"/>
            <a:ext cx="2036003" cy="777240"/>
          </a:xfrm>
          <a:prstGeom prst="roundRect">
            <a:avLst>
              <a:gd name="adj" fmla="val 11765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854391" y="3104388"/>
            <a:ext cx="1953707" cy="694944"/>
          </a:xfrm>
          <a:prstGeom prst="roundRect">
            <a:avLst>
              <a:gd name="adj" fmla="val 10526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86395" y="3136392"/>
            <a:ext cx="1889699" cy="248717"/>
          </a:xfrm>
          <a:prstGeom prst="roundRect">
            <a:avLst>
              <a:gd name="adj" fmla="val 2389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2813243" y="3063240"/>
            <a:ext cx="203600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077846" y="3063240"/>
            <a:ext cx="2036003" cy="777240"/>
          </a:xfrm>
          <a:prstGeom prst="roundRect">
            <a:avLst>
              <a:gd name="adj" fmla="val 11765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118994" y="3104388"/>
            <a:ext cx="1953707" cy="694944"/>
          </a:xfrm>
          <a:prstGeom prst="roundRect">
            <a:avLst>
              <a:gd name="adj" fmla="val 10526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50998" y="3136392"/>
            <a:ext cx="1889699" cy="248717"/>
          </a:xfrm>
          <a:prstGeom prst="roundRect">
            <a:avLst>
              <a:gd name="adj" fmla="val 2389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077846" y="3063240"/>
            <a:ext cx="203600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342449" y="3063240"/>
            <a:ext cx="2036003" cy="777240"/>
          </a:xfrm>
          <a:prstGeom prst="roundRect">
            <a:avLst>
              <a:gd name="adj" fmla="val 11765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383597" y="3104388"/>
            <a:ext cx="1953707" cy="694944"/>
          </a:xfrm>
          <a:prstGeom prst="roundRect">
            <a:avLst>
              <a:gd name="adj" fmla="val 10526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15601" y="3136392"/>
            <a:ext cx="1889699" cy="248717"/>
          </a:xfrm>
          <a:prstGeom prst="roundRect">
            <a:avLst>
              <a:gd name="adj" fmla="val 2389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342449" y="3063240"/>
            <a:ext cx="203600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607052" y="3063240"/>
            <a:ext cx="2036003" cy="777240"/>
          </a:xfrm>
          <a:prstGeom prst="roundRect">
            <a:avLst>
              <a:gd name="adj" fmla="val 11765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648200" y="3104388"/>
            <a:ext cx="1953707" cy="694944"/>
          </a:xfrm>
          <a:prstGeom prst="roundRect">
            <a:avLst>
              <a:gd name="adj" fmla="val 10526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80204" y="3136392"/>
            <a:ext cx="1889699" cy="248717"/>
          </a:xfrm>
          <a:prstGeom prst="roundRect">
            <a:avLst>
              <a:gd name="adj" fmla="val 23897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607052" y="3063240"/>
            <a:ext cx="203600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Complaint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48640" y="3977640"/>
            <a:ext cx="11094415" cy="2103120"/>
          </a:xfrm>
          <a:prstGeom prst="roundRect">
            <a:avLst>
              <a:gd name="adj" fmla="val 6087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89788" y="4018788"/>
            <a:ext cx="11012119" cy="2020824"/>
          </a:xfrm>
          <a:prstGeom prst="roundRect">
            <a:avLst>
              <a:gd name="adj" fmla="val 5430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" y="4050792"/>
            <a:ext cx="10948111" cy="672998"/>
          </a:xfrm>
          <a:prstGeom prst="roundRect">
            <a:avLst>
              <a:gd name="adj" fmla="val 12364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68680" y="4160520"/>
            <a:ext cx="104543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(driver) owns EVs and makes Bookings against a Slot belonging to a ChargingStation owned by another User (owner)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Contested slots go to auction via Bid — completed Bookings unlock Reviews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Payment records tie each transaction to Stripe; Log powers the full admin audit trail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Enums: Role, StationStatus, SlotStatus, BookingStatus, BidStatus, PaymentStatus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EV &amp; Booking Management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11094415" cy="1051560"/>
          </a:xfrm>
          <a:prstGeom prst="roundRect">
            <a:avLst>
              <a:gd name="adj" fmla="val 12174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9788" y="1869948"/>
            <a:ext cx="11012119" cy="969264"/>
          </a:xfrm>
          <a:prstGeom prst="roundRect">
            <a:avLst>
              <a:gd name="adj" fmla="val 11321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1901952"/>
            <a:ext cx="10948111" cy="336499"/>
          </a:xfrm>
          <a:prstGeom prst="roundRect">
            <a:avLst>
              <a:gd name="adj" fmla="val 24728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1993392"/>
            <a:ext cx="104543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Drivers register EVs, browse approved stations on a live map, and book charging slots with race-safe, concurrency-tested availability checks.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1094415" cy="2834640"/>
          </a:xfrm>
          <a:prstGeom prst="roundRect">
            <a:avLst>
              <a:gd name="adj" fmla="val 4516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" y="3150108"/>
            <a:ext cx="11012119" cy="2752344"/>
          </a:xfrm>
          <a:prstGeom prst="roundRect">
            <a:avLst>
              <a:gd name="adj" fmla="val 3987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82112"/>
            <a:ext cx="10948111" cy="685800"/>
          </a:xfrm>
          <a:prstGeom prst="roundRect">
            <a:avLst>
              <a:gd name="adj" fmla="val 121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2918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Highlights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794760"/>
            <a:ext cx="1045433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 CRUD with real-time battery % tracking</a:t>
            </a:r>
            <a:endParaRPr lang="en-US" sz="15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Station &amp; slot discovery via react-leaflet map</a:t>
            </a:r>
            <a:endParaRPr lang="en-US" sz="15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Race-condition-safe booking (verified under Promise.all load)</a:t>
            </a:r>
            <a:endParaRPr lang="en-US" sz="15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Booking lifecycle: create, check-in, complete, cancel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Real-Time Auction System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11094415" cy="1051560"/>
          </a:xfrm>
          <a:prstGeom prst="roundRect">
            <a:avLst>
              <a:gd name="adj" fmla="val 12174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9788" y="1869948"/>
            <a:ext cx="11012119" cy="969264"/>
          </a:xfrm>
          <a:prstGeom prst="roundRect">
            <a:avLst>
              <a:gd name="adj" fmla="val 11321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1901952"/>
            <a:ext cx="10948111" cy="336499"/>
          </a:xfrm>
          <a:prstGeom prst="roundRect">
            <a:avLst>
              <a:gd name="adj" fmla="val 24728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1993392"/>
            <a:ext cx="104543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Contested high-demand slots go to a live bidding auction instead of first-come-first-served, so urgency and fairness both matter.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1094415" cy="2834640"/>
          </a:xfrm>
          <a:prstGeom prst="roundRect">
            <a:avLst>
              <a:gd name="adj" fmla="val 4516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" y="3150108"/>
            <a:ext cx="11012119" cy="2752344"/>
          </a:xfrm>
          <a:prstGeom prst="roundRect">
            <a:avLst>
              <a:gd name="adj" fmla="val 3987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82112"/>
            <a:ext cx="10948111" cy="685800"/>
          </a:xfrm>
          <a:prstGeom prst="roundRect">
            <a:avLst>
              <a:gd name="adj" fmla="val 121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2918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Highlights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794760"/>
            <a:ext cx="1045433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Priority score = 60% normalized bid + 40% battery urgency</a:t>
            </a:r>
            <a:endParaRPr lang="en-US" sz="15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bid leaderboard pushed via Socket.IO (bid:update)</a:t>
            </a:r>
            <a:endParaRPr lang="en-US" sz="15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Persistent toast + chime on auction:won</a:t>
            </a:r>
            <a:endParaRPr lang="en-US" sz="15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Fixed reference ceiling keeps ranking order-independent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03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AI-Powered Recommendations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11094415" cy="1051560"/>
          </a:xfrm>
          <a:prstGeom prst="roundRect">
            <a:avLst>
              <a:gd name="adj" fmla="val 12174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9788" y="1869948"/>
            <a:ext cx="11012119" cy="969264"/>
          </a:xfrm>
          <a:prstGeom prst="roundRect">
            <a:avLst>
              <a:gd name="adj" fmla="val 11321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1901952"/>
            <a:ext cx="10948111" cy="336499"/>
          </a:xfrm>
          <a:prstGeom prst="roundRect">
            <a:avLst>
              <a:gd name="adj" fmla="val 24728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1993392"/>
            <a:ext cx="104543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weighted scoring engine ranks nearby stations instead of just sorting by distance, factoring in real charging urgency.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1094415" cy="2834640"/>
          </a:xfrm>
          <a:prstGeom prst="roundRect">
            <a:avLst>
              <a:gd name="adj" fmla="val 4516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" y="3150108"/>
            <a:ext cx="11012119" cy="2752344"/>
          </a:xfrm>
          <a:prstGeom prst="roundRect">
            <a:avLst>
              <a:gd name="adj" fmla="val 3987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82112"/>
            <a:ext cx="10948111" cy="685800"/>
          </a:xfrm>
          <a:prstGeom prst="roundRect">
            <a:avLst>
              <a:gd name="adj" fmla="val 121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2918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Highlights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794760"/>
            <a:ext cx="1045433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Distance 30% · Price/kWh 25% · Availability 25% · Urgency 20%</a:t>
            </a:r>
            <a:endParaRPr lang="en-US" sz="15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Battery ≤20% → emergency, 3x urgency multiplier</a:t>
            </a:r>
            <a:endParaRPr lang="en-US" sz="15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Route-aware recommendation endpoint</a:t>
            </a:r>
            <a:endParaRPr lang="en-US" sz="15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Ranked results returned in real time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04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Admin Dashboard &amp; Security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11094415" cy="1051560"/>
          </a:xfrm>
          <a:prstGeom prst="roundRect">
            <a:avLst>
              <a:gd name="adj" fmla="val 12174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9788" y="1869948"/>
            <a:ext cx="11012119" cy="969264"/>
          </a:xfrm>
          <a:prstGeom prst="roundRect">
            <a:avLst>
              <a:gd name="adj" fmla="val 11321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1901952"/>
            <a:ext cx="10948111" cy="336499"/>
          </a:xfrm>
          <a:prstGeom prst="roundRect">
            <a:avLst>
              <a:gd name="adj" fmla="val 24728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1993392"/>
            <a:ext cx="104543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dedicated admin surface for platform oversight, backed by hardened auth, validation, and audit logging.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11094415" cy="2834640"/>
          </a:xfrm>
          <a:prstGeom prst="roundRect">
            <a:avLst>
              <a:gd name="adj" fmla="val 4516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" y="3150108"/>
            <a:ext cx="11012119" cy="2752344"/>
          </a:xfrm>
          <a:prstGeom prst="roundRect">
            <a:avLst>
              <a:gd name="adj" fmla="val 3987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82112"/>
            <a:ext cx="10948111" cy="685800"/>
          </a:xfrm>
          <a:prstGeom prst="roundRect">
            <a:avLst>
              <a:gd name="adj" fmla="val 121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2918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Highlights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794760"/>
            <a:ext cx="1045433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Approve/reject stations, manage users, resolve complaints</a:t>
            </a:r>
            <a:endParaRPr lang="en-US" sz="15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audit log (Log model) for every admin action</a:t>
            </a:r>
            <a:endParaRPr lang="en-US" sz="15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JWT auth + bcrypt(12) + role-based access control</a:t>
            </a:r>
            <a:endParaRPr lang="en-US" sz="15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limiting, input validation, XSS-hardened email templates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Validation &amp; Testing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45920"/>
            <a:ext cx="2533574" cy="1554480"/>
          </a:xfrm>
          <a:prstGeom prst="roundRect">
            <a:avLst>
              <a:gd name="adj" fmla="val 8235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9788" y="1687068"/>
            <a:ext cx="2451278" cy="1472184"/>
          </a:xfrm>
          <a:prstGeom prst="roundRect">
            <a:avLst>
              <a:gd name="adj" fmla="val 7453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1719072"/>
            <a:ext cx="2387270" cy="497434"/>
          </a:xfrm>
          <a:prstGeom prst="roundRect">
            <a:avLst>
              <a:gd name="adj" fmla="val 16728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83080"/>
            <a:ext cx="253357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F3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126 / 126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5800" y="2423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tests passing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02254" y="1645920"/>
            <a:ext cx="2533574" cy="1554480"/>
          </a:xfrm>
          <a:prstGeom prst="roundRect">
            <a:avLst>
              <a:gd name="adj" fmla="val 8235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43402" y="1687068"/>
            <a:ext cx="2451278" cy="1472184"/>
          </a:xfrm>
          <a:prstGeom prst="roundRect">
            <a:avLst>
              <a:gd name="adj" fmla="val 7453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5406" y="1719072"/>
            <a:ext cx="2387270" cy="497434"/>
          </a:xfrm>
          <a:prstGeom prst="roundRect">
            <a:avLst>
              <a:gd name="adj" fmla="val 16728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02254" y="1783080"/>
            <a:ext cx="253357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F3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539414" y="2423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suites (Jest + Supertest)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5868" y="1645920"/>
            <a:ext cx="2533574" cy="1554480"/>
          </a:xfrm>
          <a:prstGeom prst="roundRect">
            <a:avLst>
              <a:gd name="adj" fmla="val 8235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97016" y="1687068"/>
            <a:ext cx="2451278" cy="1472184"/>
          </a:xfrm>
          <a:prstGeom prst="roundRect">
            <a:avLst>
              <a:gd name="adj" fmla="val 7453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9020" y="1719072"/>
            <a:ext cx="2387270" cy="497434"/>
          </a:xfrm>
          <a:prstGeom prst="roundRect">
            <a:avLst>
              <a:gd name="adj" fmla="val 16728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255868" y="1783080"/>
            <a:ext cx="253357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F3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393028" y="2423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endpoints across 13 route files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09481" y="1645920"/>
            <a:ext cx="2533574" cy="1554480"/>
          </a:xfrm>
          <a:prstGeom prst="roundRect">
            <a:avLst>
              <a:gd name="adj" fmla="val 8235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50629" y="1687068"/>
            <a:ext cx="2451278" cy="1472184"/>
          </a:xfrm>
          <a:prstGeom prst="roundRect">
            <a:avLst>
              <a:gd name="adj" fmla="val 7453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82633" y="1719072"/>
            <a:ext cx="2387270" cy="497434"/>
          </a:xfrm>
          <a:prstGeom prst="roundRect">
            <a:avLst>
              <a:gd name="adj" fmla="val 16728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109481" y="1783080"/>
            <a:ext cx="253357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F3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246641" y="2423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vulnerabilities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474720"/>
            <a:ext cx="11094415" cy="2651760"/>
          </a:xfrm>
          <a:prstGeom prst="roundRect">
            <a:avLst>
              <a:gd name="adj" fmla="val 4828"/>
            </a:avLst>
          </a:prstGeom>
          <a:solidFill>
            <a:srgbClr val="F5F0E8">
              <a:alpha val="6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9788" y="3515868"/>
            <a:ext cx="11012119" cy="2569464"/>
          </a:xfrm>
          <a:prstGeom prst="roundRect">
            <a:avLst>
              <a:gd name="adj" fmla="val 4270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" y="3547872"/>
            <a:ext cx="10948111" cy="685800"/>
          </a:xfrm>
          <a:prstGeom prst="roundRect">
            <a:avLst>
              <a:gd name="adj" fmla="val 121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3657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Was Verified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68680" y="4160520"/>
            <a:ext cx="1045433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Genuine concurrent-request race-condition test for booking (Promise.all, not sequential calls)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Stripe webhook idempotency — a replayed webhook charges exactly once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Stored-XSS fix verified across all 12 transactional email templates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WCAG contrast math + Modal ARIA rebuild + 58 form-label accessibility fixes</a:t>
            </a:r>
            <a:endParaRPr lang="en-US" sz="14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ESLint clean on both sides · 313/313 imports resolve case-exactly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Unique Differentiators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600200"/>
            <a:ext cx="5387188" cy="1920240"/>
          </a:xfrm>
          <a:prstGeom prst="roundRect">
            <a:avLst>
              <a:gd name="adj" fmla="val 6667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9788" y="1641348"/>
            <a:ext cx="5304892" cy="1837944"/>
          </a:xfrm>
          <a:prstGeom prst="roundRect">
            <a:avLst>
              <a:gd name="adj" fmla="val 5970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1673352"/>
            <a:ext cx="5240884" cy="614477"/>
          </a:xfrm>
          <a:prstGeom prst="roundRect">
            <a:avLst>
              <a:gd name="adj" fmla="val 13542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783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F3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7240" y="2377440"/>
            <a:ext cx="49299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Fair auction system — bids weighted with real battery urgency, not just highest bidder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55868" y="1600200"/>
            <a:ext cx="5387188" cy="1920240"/>
          </a:xfrm>
          <a:prstGeom prst="roundRect">
            <a:avLst>
              <a:gd name="adj" fmla="val 6667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7016" y="1641348"/>
            <a:ext cx="5304892" cy="1837944"/>
          </a:xfrm>
          <a:prstGeom prst="roundRect">
            <a:avLst>
              <a:gd name="adj" fmla="val 5970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9020" y="1673352"/>
            <a:ext cx="5240884" cy="614477"/>
          </a:xfrm>
          <a:prstGeom prst="roundRect">
            <a:avLst>
              <a:gd name="adj" fmla="val 13542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84468" y="1783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F3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84468" y="2377440"/>
            <a:ext cx="49299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recommendation engine — 4-factor weighted scoring, not simple distance sort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387188" cy="1920240"/>
          </a:xfrm>
          <a:prstGeom prst="roundRect">
            <a:avLst>
              <a:gd name="adj" fmla="val 6667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9788" y="3881628"/>
            <a:ext cx="5304892" cy="1837944"/>
          </a:xfrm>
          <a:prstGeom prst="roundRect">
            <a:avLst>
              <a:gd name="adj" fmla="val 5970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3913632"/>
            <a:ext cx="5240884" cy="614477"/>
          </a:xfrm>
          <a:prstGeom prst="roundRect">
            <a:avLst>
              <a:gd name="adj" fmla="val 13542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023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F3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7240" y="4617720"/>
            <a:ext cx="49299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everywhere — Socket.IO for bids, auctions, bookings, station status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55868" y="3840480"/>
            <a:ext cx="5387188" cy="1920240"/>
          </a:xfrm>
          <a:prstGeom prst="roundRect">
            <a:avLst>
              <a:gd name="adj" fmla="val 6667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97016" y="3881628"/>
            <a:ext cx="5304892" cy="1837944"/>
          </a:xfrm>
          <a:prstGeom prst="roundRect">
            <a:avLst>
              <a:gd name="adj" fmla="val 5970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29020" y="3913632"/>
            <a:ext cx="5240884" cy="614477"/>
          </a:xfrm>
          <a:prstGeom prst="roundRect">
            <a:avLst>
              <a:gd name="adj" fmla="val 13542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84468" y="4023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F3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84468" y="4617720"/>
            <a:ext cx="49299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Production-grade hardening — race-safe bookings, idempotent Stripe webhooks, magic-byte file validation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Future Scope &amp; Business Model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737360"/>
            <a:ext cx="11094415" cy="4206240"/>
          </a:xfrm>
          <a:prstGeom prst="roundRect">
            <a:avLst>
              <a:gd name="adj" fmla="val 3043"/>
            </a:avLst>
          </a:prstGeom>
          <a:solidFill>
            <a:srgbClr val="F5F0E8">
              <a:alpha val="70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9788" y="1778508"/>
            <a:ext cx="11012119" cy="4123944"/>
          </a:xfrm>
          <a:prstGeom prst="roundRect">
            <a:avLst>
              <a:gd name="adj" fmla="val 2661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1810512"/>
            <a:ext cx="10948111" cy="685800"/>
          </a:xfrm>
          <a:prstGeom prst="roundRect">
            <a:avLst>
              <a:gd name="adj" fmla="val 121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9659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ChargeEV Goes Next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2560320"/>
            <a:ext cx="10454335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Native mobile app (React Native) for drivers and owners</a:t>
            </a:r>
            <a:endParaRPr lang="en-US" sz="17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Dynamic, demand-based slot pricing</a:t>
            </a:r>
            <a:endParaRPr lang="en-US" sz="17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Route-based fast-charging trip planner</a:t>
            </a:r>
            <a:endParaRPr lang="en-US" sz="1700" dirty="0"/>
          </a:p>
          <a:p>
            <a:pPr marL="228600" indent="-2286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Subscription tiers for fleet operators + public API for agritech-style partner integrations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645920"/>
            <a:ext cx="3840480" cy="3840480"/>
          </a:xfrm>
          <a:prstGeom prst="ellipse">
            <a:avLst/>
          </a:prstGeom>
          <a:solidFill>
            <a:srgbClr val="A3B18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291840" cy="329184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46520"/>
            <a:ext cx="12191695" cy="0"/>
          </a:xfrm>
          <a:prstGeom prst="line">
            <a:avLst/>
          </a:prstGeom>
          <a:noFill/>
          <a:ln w="9525">
            <a:solidFill>
              <a:srgbClr val="D2B48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800000">
            <a:off x="320040" y="274320"/>
            <a:ext cx="822960" cy="822960"/>
          </a:xfrm>
          <a:prstGeom prst="teardrop">
            <a:avLst/>
          </a:prstGeom>
          <a:solidFill>
            <a:srgbClr val="A3B18A">
              <a:alpha val="10000"/>
            </a:srgbClr>
          </a:solidFill>
          <a:ln w="6350">
            <a:solidFill>
              <a:srgbClr val="A3B1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3000000">
            <a:off x="11094415" y="5852160"/>
            <a:ext cx="777240" cy="777240"/>
          </a:xfrm>
          <a:prstGeom prst="teardrop">
            <a:avLst/>
          </a:prstGeom>
          <a:solidFill>
            <a:srgbClr val="D4AF37">
              <a:alpha val="10000"/>
            </a:srgbClr>
          </a:solidFill>
          <a:ln w="635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88775" y="6423660"/>
            <a:ext cx="54864" cy="54864"/>
          </a:xfrm>
          <a:prstGeom prst="ellipse">
            <a:avLst/>
          </a:prstGeom>
          <a:solidFill>
            <a:srgbClr val="D4AF37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169768" y="502920"/>
            <a:ext cx="5852160" cy="5852160"/>
          </a:xfrm>
          <a:prstGeom prst="ellipse">
            <a:avLst/>
          </a:prstGeom>
          <a:solidFill>
            <a:srgbClr val="D4AF37">
              <a:alpha val="6000"/>
            </a:srgbClr>
          </a:solidFill>
          <a:ln w="9525">
            <a:solidFill>
              <a:srgbClr val="D4AF37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2000000">
            <a:off x="1889608" y="2423160"/>
            <a:ext cx="1188720" cy="1188720"/>
          </a:xfrm>
          <a:prstGeom prst="teardrop">
            <a:avLst/>
          </a:prstGeom>
          <a:solidFill>
            <a:srgbClr val="A3B18A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200000">
            <a:off x="9113368" y="3246120"/>
            <a:ext cx="1188720" cy="1188720"/>
          </a:xfrm>
          <a:prstGeom prst="teardrop">
            <a:avLst/>
          </a:prstGeom>
          <a:solidFill>
            <a:srgbClr val="A3B18A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2286000"/>
            <a:ext cx="6888175" cy="2377440"/>
          </a:xfrm>
          <a:prstGeom prst="roundRect">
            <a:avLst>
              <a:gd name="adj" fmla="val 7692"/>
            </a:avLst>
          </a:prstGeom>
          <a:solidFill>
            <a:srgbClr val="F5F0E8">
              <a:alpha val="58000"/>
            </a:srgbClr>
          </a:solidFill>
          <a:ln w="12700">
            <a:solidFill>
              <a:srgbClr val="D2B48C"/>
            </a:solidFill>
            <a:prstDash val="solid"/>
          </a:ln>
          <a:effectLst>
            <a:outerShdw sx="100000" sy="100000" kx="0" ky="0" algn="bl" rotWithShape="0" blurRad="177800" dist="25400" dir="5400000">
              <a:srgbClr val="8B5A2B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2908" y="2327148"/>
            <a:ext cx="6805879" cy="2295144"/>
          </a:xfrm>
          <a:prstGeom prst="roundRect">
            <a:avLst>
              <a:gd name="adj" fmla="val 7171"/>
            </a:avLst>
          </a:prstGeom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24912" y="2359152"/>
            <a:ext cx="6741871" cy="685800"/>
          </a:xfrm>
          <a:prstGeom prst="roundRect">
            <a:avLst>
              <a:gd name="adj" fmla="val 17333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2560320"/>
            <a:ext cx="6888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8B5A2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15" name="Shape 13"/>
          <p:cNvSpPr/>
          <p:nvPr/>
        </p:nvSpPr>
        <p:spPr>
          <a:xfrm>
            <a:off x="5364328" y="3520440"/>
            <a:ext cx="146304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3703320"/>
            <a:ext cx="68881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93776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Name Here   ·   Team Member 2   ·   Team Member 3   ·   Team Member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3492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Institute Name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CHARGEEV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ChargeEV</dc:title>
  <dc:subject>PptxGenJS Presentation</dc:subject>
  <dc:creator>Your Name Here</dc:creator>
  <cp:lastModifiedBy>Your Name Here</cp:lastModifiedBy>
  <cp:revision>1</cp:revision>
  <dcterms:created xsi:type="dcterms:W3CDTF">2026-08-03T22:38:32Z</dcterms:created>
  <dcterms:modified xsi:type="dcterms:W3CDTF">2026-08-03T22:38:32Z</dcterms:modified>
</cp:coreProperties>
</file>